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8" r:id="rId5"/>
    <p:sldId id="261" r:id="rId6"/>
    <p:sldId id="269" r:id="rId7"/>
    <p:sldId id="270" r:id="rId8"/>
    <p:sldId id="262" r:id="rId9"/>
    <p:sldId id="259" r:id="rId10"/>
    <p:sldId id="263" r:id="rId11"/>
    <p:sldId id="264" r:id="rId12"/>
    <p:sldId id="265" r:id="rId13"/>
    <p:sldId id="266" r:id="rId14"/>
    <p:sldId id="267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06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95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1059;&#1085;&#1110;&#1074;&#1077;&#1088;&#1089;&#1080;&#1090;&#1077;&#1090;\&#1055;&#1088;&#1086;&#1075;&#1088;&#1072;&#1084;&#1091;&#1074;&#1072;&#1085;&#1085;&#1103;\&#1050;&#1091;&#1088;&#1089;&#1086;&#1074;&#1072;%20&#1088;&#1086;&#1073;&#1086;&#1090;&#1072;%20&#1074;14\&#1050;&#1091;&#1088;&#1089;&#1086;&#1074;&#1072;%20&#1088;&#1086;&#1073;&#1086;&#1090;&#1072;\Book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1059;&#1085;&#1110;&#1074;&#1077;&#1088;&#1089;&#1080;&#1090;&#1077;&#1090;\&#1055;&#1088;&#1086;&#1075;&#1088;&#1072;&#1084;&#1091;&#1074;&#1072;&#1085;&#1085;&#1103;\&#1050;&#1091;&#1088;&#1089;&#1086;&#1074;&#1072;%20&#1088;&#1086;&#1073;&#1086;&#1090;&#1072;%20&#1074;14\&#1050;&#1091;&#1088;&#1089;&#1086;&#1074;&#1072;%20&#1088;&#1086;&#1073;&#1086;&#1090;&#1072;\Book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1059;&#1085;&#1110;&#1074;&#1077;&#1088;&#1089;&#1080;&#1090;&#1077;&#1090;\&#1055;&#1088;&#1086;&#1075;&#1088;&#1072;&#1084;&#1091;&#1074;&#1072;&#1085;&#1085;&#1103;\&#1050;&#1091;&#1088;&#1089;&#1086;&#1074;&#1072;%20&#1088;&#1086;&#1073;&#1086;&#1090;&#1072;%20&#1074;14\&#1050;&#1091;&#1088;&#1089;&#1086;&#1074;&#1072;%20&#1088;&#1086;&#1073;&#1086;&#1090;&#1072;\Book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1059;&#1085;&#1110;&#1074;&#1077;&#1088;&#1089;&#1080;&#1090;&#1077;&#1090;\&#1055;&#1088;&#1086;&#1075;&#1088;&#1072;&#1084;&#1091;&#1074;&#1072;&#1085;&#1085;&#1103;\&#1050;&#1091;&#1088;&#1089;&#1086;&#1074;&#1072;%20&#1088;&#1086;&#1073;&#1086;&#1090;&#1072;%20&#1074;14\&#1050;&#1091;&#1088;&#1089;&#1086;&#1074;&#1072;%20&#1088;&#1086;&#1073;&#1086;&#1090;&#1072;\Book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1059;&#1085;&#1110;&#1074;&#1077;&#1088;&#1089;&#1080;&#1090;&#1077;&#1090;\&#1055;&#1088;&#1086;&#1075;&#1088;&#1072;&#1084;&#1091;&#1074;&#1072;&#1085;&#1085;&#1103;\&#1050;&#1091;&#1088;&#1089;&#1086;&#1074;&#1072;%20&#1088;&#1086;&#1073;&#1086;&#1090;&#1072;%20&#1074;14\&#1050;&#1091;&#1088;&#1089;&#1086;&#1074;&#1072;%20&#1088;&#1086;&#1073;&#1086;&#1090;&#1072;\Book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1059;&#1085;&#1110;&#1074;&#1077;&#1088;&#1089;&#1080;&#1090;&#1077;&#1090;\&#1055;&#1088;&#1086;&#1075;&#1088;&#1072;&#1084;&#1091;&#1074;&#1072;&#1085;&#1085;&#1103;\&#1050;&#1091;&#1088;&#1089;&#1086;&#1074;&#1072;%20&#1088;&#1086;&#1073;&#1086;&#1090;&#1072;%20&#1074;14\&#1050;&#1091;&#1088;&#1089;&#1086;&#1074;&#1072;%20&#1088;&#1086;&#1073;&#1086;&#1090;&#1072;\Book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1059;&#1085;&#1110;&#1074;&#1077;&#1088;&#1089;&#1080;&#1090;&#1077;&#1090;\&#1055;&#1088;&#1086;&#1075;&#1088;&#1072;&#1084;&#1091;&#1074;&#1072;&#1085;&#1085;&#1103;\&#1050;&#1091;&#1088;&#1089;&#1086;&#1074;&#1072;%20&#1088;&#1086;&#1073;&#1086;&#1090;&#1072;%20&#1074;14\&#1050;&#1091;&#1088;&#1089;&#1086;&#1074;&#1072;%20&#1088;&#1086;&#1073;&#1086;&#1090;&#1072;\Book1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1059;&#1085;&#1110;&#1074;&#1077;&#1088;&#1089;&#1080;&#1090;&#1077;&#1090;\&#1055;&#1088;&#1086;&#1075;&#1088;&#1072;&#1084;&#1091;&#1074;&#1072;&#1085;&#1085;&#1103;\&#1050;&#1091;&#1088;&#1089;&#1086;&#1074;&#1072;%20&#1088;&#1086;&#1073;&#1086;&#1090;&#1072;%20&#1074;14\&#1050;&#1091;&#1088;&#1089;&#1086;&#1074;&#1072;%20&#1088;&#1086;&#1073;&#1086;&#1090;&#1072;\Book1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1059;&#1085;&#1110;&#1074;&#1077;&#1088;&#1089;&#1080;&#1090;&#1077;&#1090;\&#1055;&#1088;&#1086;&#1075;&#1088;&#1072;&#1084;&#1091;&#1074;&#1072;&#1085;&#1085;&#1103;\&#1050;&#1091;&#1088;&#1089;&#1086;&#1074;&#1072;%20&#1088;&#1086;&#1073;&#1086;&#1090;&#1072;%20&#1074;14\&#1050;&#1091;&#1088;&#1089;&#1086;&#1074;&#1072;%20&#1088;&#1086;&#1073;&#1086;&#1090;&#1072;\Book1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1059;&#1085;&#1110;&#1074;&#1077;&#1088;&#1089;&#1080;&#1090;&#1077;&#1090;\&#1055;&#1088;&#1086;&#1075;&#1088;&#1072;&#1084;&#1091;&#1074;&#1072;&#1085;&#1085;&#1103;\&#1050;&#1091;&#1088;&#1089;&#1086;&#1074;&#1072;%20&#1088;&#1086;&#1073;&#1086;&#1090;&#1072;%20&#1074;14\&#1050;&#1091;&#1088;&#1089;&#1086;&#1074;&#1072;%20&#1088;&#1086;&#1073;&#1086;&#1090;&#1072;\Book1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1059;&#1085;&#1110;&#1074;&#1077;&#1088;&#1089;&#1080;&#1090;&#1077;&#1090;\&#1055;&#1088;&#1086;&#1075;&#1088;&#1072;&#1084;&#1091;&#1074;&#1072;&#1085;&#1085;&#1103;\&#1050;&#1091;&#1088;&#1089;&#1086;&#1074;&#1072;%20&#1088;&#1086;&#1073;&#1086;&#1090;&#1072;%20&#1074;14\&#1050;&#1091;&#1088;&#1089;&#1086;&#1074;&#1072;%20&#1088;&#1086;&#1073;&#1086;&#1090;&#1072;\Book1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1059;&#1085;&#1110;&#1074;&#1077;&#1088;&#1089;&#1080;&#1090;&#1077;&#1090;\&#1055;&#1088;&#1086;&#1075;&#1088;&#1072;&#1084;&#1091;&#1074;&#1072;&#1085;&#1085;&#1103;\&#1050;&#1091;&#1088;&#1089;&#1086;&#1074;&#1072;%20&#1088;&#1086;&#1073;&#1086;&#1090;&#1072;%20&#1074;14\&#1050;&#1091;&#1088;&#1089;&#1086;&#1074;&#1072;%20&#1088;&#1086;&#1073;&#1086;&#1090;&#1072;\Book1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uk-UA" sz="1400" b="0" i="0" u="none" strike="noStrike" baseline="0">
                <a:effectLst/>
              </a:rPr>
              <a:t>Залежність сили струму від часу </a:t>
            </a:r>
            <a:r>
              <a:rPr lang="en-US"/>
              <a:t>I(t)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Sheet1!$B$1:$B$21</c:f>
              <c:numCache>
                <c:formatCode>General</c:formatCode>
                <c:ptCount val="21"/>
                <c:pt idx="0">
                  <c:v>0.1</c:v>
                </c:pt>
                <c:pt idx="1">
                  <c:v>0.100122</c:v>
                </c:pt>
                <c:pt idx="2">
                  <c:v>0.100476</c:v>
                </c:pt>
                <c:pt idx="3">
                  <c:v>0.100871</c:v>
                </c:pt>
                <c:pt idx="4">
                  <c:v>0.101133</c:v>
                </c:pt>
                <c:pt idx="5">
                  <c:v>0.101382</c:v>
                </c:pt>
                <c:pt idx="6">
                  <c:v>0.10162</c:v>
                </c:pt>
                <c:pt idx="7">
                  <c:v>0.10184600000000001</c:v>
                </c:pt>
                <c:pt idx="8">
                  <c:v>0.101648</c:v>
                </c:pt>
                <c:pt idx="9">
                  <c:v>0.100906</c:v>
                </c:pt>
                <c:pt idx="10">
                  <c:v>0.1</c:v>
                </c:pt>
                <c:pt idx="11">
                  <c:v>9.9016000000000007E-2</c:v>
                </c:pt>
                <c:pt idx="12">
                  <c:v>9.8032999999999995E-2</c:v>
                </c:pt>
                <c:pt idx="13">
                  <c:v>9.7541000000000003E-2</c:v>
                </c:pt>
                <c:pt idx="14">
                  <c:v>9.7541000000000003E-2</c:v>
                </c:pt>
                <c:pt idx="15">
                  <c:v>9.7541000000000003E-2</c:v>
                </c:pt>
                <c:pt idx="16">
                  <c:v>9.7541000000000003E-2</c:v>
                </c:pt>
                <c:pt idx="17">
                  <c:v>9.7541000000000003E-2</c:v>
                </c:pt>
                <c:pt idx="18">
                  <c:v>9.8032999999999995E-2</c:v>
                </c:pt>
                <c:pt idx="19">
                  <c:v>9.9016000000000007E-2</c:v>
                </c:pt>
                <c:pt idx="20">
                  <c:v>0.1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4B5-43C1-985A-11849C0F2A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20739248"/>
        <c:axId val="620736008"/>
      </c:scatterChart>
      <c:valAx>
        <c:axId val="6207392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0736008"/>
        <c:crosses val="autoZero"/>
        <c:crossBetween val="midCat"/>
      </c:valAx>
      <c:valAx>
        <c:axId val="620736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I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07392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uk-UA" sz="1400" b="0" i="0" u="none" strike="noStrike" baseline="0"/>
              <a:t>Зміна допоміжного коефіцієнта від часу </a:t>
            </a:r>
            <a:r>
              <a:rPr lang="en-GB"/>
              <a:t>k(t)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Sheet1!$C$1:$C$21</c:f>
              <c:numCache>
                <c:formatCode>General</c:formatCode>
                <c:ptCount val="21"/>
                <c:pt idx="0">
                  <c:v>0</c:v>
                </c:pt>
                <c:pt idx="1">
                  <c:v>2.4399999999999999E-4</c:v>
                </c:pt>
                <c:pt idx="2">
                  <c:v>4.7600000000000002E-4</c:v>
                </c:pt>
                <c:pt idx="3">
                  <c:v>6.96E-4</c:v>
                </c:pt>
                <c:pt idx="4">
                  <c:v>9.0600000000000001E-4</c:v>
                </c:pt>
                <c:pt idx="5">
                  <c:v>1.106E-3</c:v>
                </c:pt>
                <c:pt idx="6">
                  <c:v>1.2960000000000001E-3</c:v>
                </c:pt>
                <c:pt idx="7">
                  <c:v>1.477E-3</c:v>
                </c:pt>
                <c:pt idx="8">
                  <c:v>1.6479999999999999E-3</c:v>
                </c:pt>
                <c:pt idx="9">
                  <c:v>1.812E-3</c:v>
                </c:pt>
                <c:pt idx="10">
                  <c:v>1.967E-3</c:v>
                </c:pt>
                <c:pt idx="11">
                  <c:v>1.967E-3</c:v>
                </c:pt>
                <c:pt idx="12">
                  <c:v>1.967E-3</c:v>
                </c:pt>
                <c:pt idx="13">
                  <c:v>1.967E-3</c:v>
                </c:pt>
                <c:pt idx="14">
                  <c:v>1.967E-3</c:v>
                </c:pt>
                <c:pt idx="15">
                  <c:v>1.967E-3</c:v>
                </c:pt>
                <c:pt idx="16">
                  <c:v>1.967E-3</c:v>
                </c:pt>
                <c:pt idx="17">
                  <c:v>1.967E-3</c:v>
                </c:pt>
                <c:pt idx="18">
                  <c:v>1.967E-3</c:v>
                </c:pt>
                <c:pt idx="19">
                  <c:v>1.967E-3</c:v>
                </c:pt>
                <c:pt idx="20">
                  <c:v>1.967E-3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3A2-4B73-8838-C86E0A074E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14074384"/>
        <c:axId val="714070784"/>
      </c:scatterChart>
      <c:valAx>
        <c:axId val="7140743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4070784"/>
        <c:crosses val="autoZero"/>
        <c:crossBetween val="midCat"/>
      </c:valAx>
      <c:valAx>
        <c:axId val="714070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40743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uk-UA" sz="1400" b="0" i="0" u="none" strike="noStrike" baseline="0"/>
              <a:t>Залежність величини повітряного зазору від часу </a:t>
            </a:r>
            <a:r>
              <a:rPr lang="en-GB"/>
              <a:t>l(t)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Sheet1!$D$1:$D$21</c:f>
              <c:numCache>
                <c:formatCode>General</c:formatCode>
                <c:ptCount val="21"/>
                <c:pt idx="0">
                  <c:v>0.1</c:v>
                </c:pt>
                <c:pt idx="1">
                  <c:v>0.105</c:v>
                </c:pt>
                <c:pt idx="2">
                  <c:v>0.11</c:v>
                </c:pt>
                <c:pt idx="3">
                  <c:v>0.115</c:v>
                </c:pt>
                <c:pt idx="4">
                  <c:v>0.12</c:v>
                </c:pt>
                <c:pt idx="5">
                  <c:v>0.125</c:v>
                </c:pt>
                <c:pt idx="6">
                  <c:v>0.125</c:v>
                </c:pt>
                <c:pt idx="7">
                  <c:v>0.125</c:v>
                </c:pt>
                <c:pt idx="8">
                  <c:v>0.125</c:v>
                </c:pt>
                <c:pt idx="9">
                  <c:v>0.125</c:v>
                </c:pt>
                <c:pt idx="10">
                  <c:v>0.125</c:v>
                </c:pt>
                <c:pt idx="11">
                  <c:v>0.125</c:v>
                </c:pt>
                <c:pt idx="12">
                  <c:v>0.125</c:v>
                </c:pt>
                <c:pt idx="13">
                  <c:v>0.125</c:v>
                </c:pt>
                <c:pt idx="14">
                  <c:v>0.125</c:v>
                </c:pt>
                <c:pt idx="15">
                  <c:v>0.125</c:v>
                </c:pt>
                <c:pt idx="16">
                  <c:v>0.125</c:v>
                </c:pt>
                <c:pt idx="17">
                  <c:v>0.125</c:v>
                </c:pt>
                <c:pt idx="18">
                  <c:v>0.125</c:v>
                </c:pt>
                <c:pt idx="19">
                  <c:v>0.125</c:v>
                </c:pt>
                <c:pt idx="20">
                  <c:v>0.125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E6F-4548-BA49-D1E3C63AD7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14041624"/>
        <c:axId val="714033704"/>
      </c:scatterChart>
      <c:valAx>
        <c:axId val="7140416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4033704"/>
        <c:crosses val="autoZero"/>
        <c:crossBetween val="midCat"/>
      </c:valAx>
      <c:valAx>
        <c:axId val="714033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40416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uk-UA" sz="1400" b="0" i="0" u="none" strike="noStrike" baseline="0"/>
              <a:t>Залежність тягового зусилля від часу </a:t>
            </a:r>
            <a:r>
              <a:rPr lang="en-US"/>
              <a:t>F(t)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Sheet1!$A$1:$A$21</c:f>
              <c:numCache>
                <c:formatCode>General</c:formatCode>
                <c:ptCount val="2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Sheet1!$E$1:$E$21</c:f>
              <c:numCache>
                <c:formatCode>General</c:formatCode>
                <c:ptCount val="21"/>
                <c:pt idx="0">
                  <c:v>6.2831849999999996</c:v>
                </c:pt>
                <c:pt idx="1">
                  <c:v>5.7129399999999997</c:v>
                </c:pt>
                <c:pt idx="2">
                  <c:v>5.242248</c:v>
                </c:pt>
                <c:pt idx="3">
                  <c:v>4.8340730000000001</c:v>
                </c:pt>
                <c:pt idx="4">
                  <c:v>4.4627499999999998</c:v>
                </c:pt>
                <c:pt idx="5">
                  <c:v>4.1331939999999996</c:v>
                </c:pt>
                <c:pt idx="6">
                  <c:v>4.1525730000000003</c:v>
                </c:pt>
                <c:pt idx="7">
                  <c:v>4.1710479999999999</c:v>
                </c:pt>
                <c:pt idx="8">
                  <c:v>4.154903</c:v>
                </c:pt>
                <c:pt idx="9">
                  <c:v>4.0944279999999997</c:v>
                </c:pt>
                <c:pt idx="10">
                  <c:v>4.0212389999999996</c:v>
                </c:pt>
                <c:pt idx="11">
                  <c:v>3.9425159999999999</c:v>
                </c:pt>
                <c:pt idx="12">
                  <c:v>3.8645719999999999</c:v>
                </c:pt>
                <c:pt idx="13">
                  <c:v>3.8258909999999999</c:v>
                </c:pt>
                <c:pt idx="14">
                  <c:v>3.8258909999999999</c:v>
                </c:pt>
                <c:pt idx="15">
                  <c:v>3.8258909999999999</c:v>
                </c:pt>
                <c:pt idx="16">
                  <c:v>3.8258909999999999</c:v>
                </c:pt>
                <c:pt idx="17">
                  <c:v>3.8258909999999999</c:v>
                </c:pt>
                <c:pt idx="18">
                  <c:v>3.8645719999999999</c:v>
                </c:pt>
                <c:pt idx="19">
                  <c:v>3.9425159999999999</c:v>
                </c:pt>
                <c:pt idx="20">
                  <c:v>4.0212389999999996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267-4B8D-877F-68F33DF00F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21513768"/>
        <c:axId val="521522048"/>
      </c:scatterChart>
      <c:valAx>
        <c:axId val="5215137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1522048"/>
        <c:crosses val="autoZero"/>
        <c:crossBetween val="midCat"/>
      </c:valAx>
      <c:valAx>
        <c:axId val="521522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15137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uk-UA" sz="1400" b="0" i="0" u="none" strike="noStrike" baseline="0">
                <a:effectLst/>
              </a:rPr>
              <a:t>Залежність сили струму від часу </a:t>
            </a:r>
            <a:r>
              <a:rPr lang="en-GB"/>
              <a:t>I(t)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Sheet1!$J$1:$J$21</c:f>
              <c:numCache>
                <c:formatCode>General</c:formatCode>
                <c:ptCount val="2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Sheet1!$K$1:$K$21</c:f>
              <c:numCache>
                <c:formatCode>General</c:formatCode>
                <c:ptCount val="21"/>
                <c:pt idx="0">
                  <c:v>0.2</c:v>
                </c:pt>
                <c:pt idx="1">
                  <c:v>0.20024400000000001</c:v>
                </c:pt>
                <c:pt idx="2">
                  <c:v>0.20095199999999999</c:v>
                </c:pt>
                <c:pt idx="3">
                  <c:v>0.201741</c:v>
                </c:pt>
                <c:pt idx="4">
                  <c:v>0.202266</c:v>
                </c:pt>
                <c:pt idx="5">
                  <c:v>0.202765</c:v>
                </c:pt>
                <c:pt idx="6">
                  <c:v>0.20324</c:v>
                </c:pt>
                <c:pt idx="7">
                  <c:v>0.20369100000000001</c:v>
                </c:pt>
                <c:pt idx="8">
                  <c:v>0.20329700000000001</c:v>
                </c:pt>
                <c:pt idx="9">
                  <c:v>0.20181199999999999</c:v>
                </c:pt>
                <c:pt idx="10">
                  <c:v>0.2</c:v>
                </c:pt>
                <c:pt idx="11">
                  <c:v>0.19803299999999999</c:v>
                </c:pt>
                <c:pt idx="12">
                  <c:v>0.19606499999999999</c:v>
                </c:pt>
                <c:pt idx="13">
                  <c:v>0.19508200000000001</c:v>
                </c:pt>
                <c:pt idx="14">
                  <c:v>0.19508200000000001</c:v>
                </c:pt>
                <c:pt idx="15">
                  <c:v>0.19508200000000001</c:v>
                </c:pt>
                <c:pt idx="16">
                  <c:v>0.19508200000000001</c:v>
                </c:pt>
                <c:pt idx="17">
                  <c:v>0.19508200000000001</c:v>
                </c:pt>
                <c:pt idx="18">
                  <c:v>0.19606499999999999</c:v>
                </c:pt>
                <c:pt idx="19">
                  <c:v>0.19803299999999999</c:v>
                </c:pt>
                <c:pt idx="20">
                  <c:v>0.2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F92-4C9B-8892-9C56D8B077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14055304"/>
        <c:axId val="714055664"/>
      </c:scatterChart>
      <c:valAx>
        <c:axId val="7140553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4055664"/>
        <c:crosses val="autoZero"/>
        <c:crossBetween val="midCat"/>
      </c:valAx>
      <c:valAx>
        <c:axId val="714055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I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405530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uk-UA" sz="1400" b="0" i="0" u="none" strike="noStrike" baseline="0"/>
              <a:t>Зміна допоміжного коефіцієнта від часу </a:t>
            </a:r>
            <a:r>
              <a:rPr lang="en-GB"/>
              <a:t>k(t)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Sheet1!$J$1:$J$21</c:f>
              <c:numCache>
                <c:formatCode>General</c:formatCode>
                <c:ptCount val="2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Sheet1!$L$1:$L$21</c:f>
              <c:numCache>
                <c:formatCode>General</c:formatCode>
                <c:ptCount val="21"/>
                <c:pt idx="0">
                  <c:v>0</c:v>
                </c:pt>
                <c:pt idx="1">
                  <c:v>2.4399999999999999E-4</c:v>
                </c:pt>
                <c:pt idx="2">
                  <c:v>4.7600000000000002E-4</c:v>
                </c:pt>
                <c:pt idx="3">
                  <c:v>6.96E-4</c:v>
                </c:pt>
                <c:pt idx="4">
                  <c:v>9.0600000000000001E-4</c:v>
                </c:pt>
                <c:pt idx="5">
                  <c:v>1.106E-3</c:v>
                </c:pt>
                <c:pt idx="6">
                  <c:v>1.2960000000000001E-3</c:v>
                </c:pt>
                <c:pt idx="7">
                  <c:v>1.477E-3</c:v>
                </c:pt>
                <c:pt idx="8">
                  <c:v>1.6479999999999999E-3</c:v>
                </c:pt>
                <c:pt idx="9">
                  <c:v>1.812E-3</c:v>
                </c:pt>
                <c:pt idx="10">
                  <c:v>1.967E-3</c:v>
                </c:pt>
                <c:pt idx="11">
                  <c:v>1.967E-3</c:v>
                </c:pt>
                <c:pt idx="12">
                  <c:v>1.967E-3</c:v>
                </c:pt>
                <c:pt idx="13">
                  <c:v>1.967E-3</c:v>
                </c:pt>
                <c:pt idx="14">
                  <c:v>1.967E-3</c:v>
                </c:pt>
                <c:pt idx="15">
                  <c:v>1.967E-3</c:v>
                </c:pt>
                <c:pt idx="16">
                  <c:v>1.967E-3</c:v>
                </c:pt>
                <c:pt idx="17">
                  <c:v>1.967E-3</c:v>
                </c:pt>
                <c:pt idx="18">
                  <c:v>1.967E-3</c:v>
                </c:pt>
                <c:pt idx="19">
                  <c:v>1.967E-3</c:v>
                </c:pt>
                <c:pt idx="20">
                  <c:v>1.967E-3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0B1-4A06-AA94-C45F0CFF15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21536448"/>
        <c:axId val="521537528"/>
      </c:scatterChart>
      <c:valAx>
        <c:axId val="5215364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1537528"/>
        <c:crosses val="autoZero"/>
        <c:crossBetween val="midCat"/>
      </c:valAx>
      <c:valAx>
        <c:axId val="521537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15364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uk-UA" sz="1400" b="0" i="0" u="none" strike="noStrike" baseline="0"/>
              <a:t>Залежність величини повітряного зазору від часу </a:t>
            </a:r>
            <a:r>
              <a:rPr lang="en-GB"/>
              <a:t>l(t)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Sheet1!$J$1:$J$21</c:f>
              <c:numCache>
                <c:formatCode>General</c:formatCode>
                <c:ptCount val="2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Sheet1!$M$1:$M$21</c:f>
              <c:numCache>
                <c:formatCode>General</c:formatCode>
                <c:ptCount val="21"/>
                <c:pt idx="0">
                  <c:v>0.1</c:v>
                </c:pt>
                <c:pt idx="1">
                  <c:v>0.105</c:v>
                </c:pt>
                <c:pt idx="2">
                  <c:v>0.11</c:v>
                </c:pt>
                <c:pt idx="3">
                  <c:v>0.115</c:v>
                </c:pt>
                <c:pt idx="4">
                  <c:v>0.12</c:v>
                </c:pt>
                <c:pt idx="5">
                  <c:v>0.125</c:v>
                </c:pt>
                <c:pt idx="6">
                  <c:v>0.125</c:v>
                </c:pt>
                <c:pt idx="7">
                  <c:v>0.125</c:v>
                </c:pt>
                <c:pt idx="8">
                  <c:v>0.125</c:v>
                </c:pt>
                <c:pt idx="9">
                  <c:v>0.125</c:v>
                </c:pt>
                <c:pt idx="10">
                  <c:v>0.125</c:v>
                </c:pt>
                <c:pt idx="11">
                  <c:v>0.125</c:v>
                </c:pt>
                <c:pt idx="12">
                  <c:v>0.125</c:v>
                </c:pt>
                <c:pt idx="13">
                  <c:v>0.125</c:v>
                </c:pt>
                <c:pt idx="14">
                  <c:v>0.125</c:v>
                </c:pt>
                <c:pt idx="15">
                  <c:v>0.125</c:v>
                </c:pt>
                <c:pt idx="16">
                  <c:v>0.125</c:v>
                </c:pt>
                <c:pt idx="17">
                  <c:v>0.125</c:v>
                </c:pt>
                <c:pt idx="18">
                  <c:v>0.125</c:v>
                </c:pt>
                <c:pt idx="19">
                  <c:v>0.125</c:v>
                </c:pt>
                <c:pt idx="20">
                  <c:v>0.125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2F6-4628-8305-28328FC157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14079424"/>
        <c:axId val="714077984"/>
      </c:scatterChart>
      <c:valAx>
        <c:axId val="7140794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4077984"/>
        <c:crosses val="autoZero"/>
        <c:crossBetween val="midCat"/>
      </c:valAx>
      <c:valAx>
        <c:axId val="714077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40794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uk-UA" sz="1400" b="0" i="0" u="none" strike="noStrike" baseline="0"/>
              <a:t>Залежність тягового зусилля від часу </a:t>
            </a:r>
            <a:r>
              <a:rPr lang="en-GB"/>
              <a:t>F(t)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Sheet1!$J$1:$J$21</c:f>
              <c:numCache>
                <c:formatCode>General</c:formatCode>
                <c:ptCount val="2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Sheet1!$N$1:$N$21</c:f>
              <c:numCache>
                <c:formatCode>General</c:formatCode>
                <c:ptCount val="21"/>
                <c:pt idx="0">
                  <c:v>120.637158</c:v>
                </c:pt>
                <c:pt idx="1">
                  <c:v>109.68844799999999</c:v>
                </c:pt>
                <c:pt idx="2">
                  <c:v>100.65116</c:v>
                </c:pt>
                <c:pt idx="3">
                  <c:v>92.814196999999993</c:v>
                </c:pt>
                <c:pt idx="4">
                  <c:v>85.684804</c:v>
                </c:pt>
                <c:pt idx="5">
                  <c:v>79.357325000000003</c:v>
                </c:pt>
                <c:pt idx="6">
                  <c:v>79.729397000000006</c:v>
                </c:pt>
                <c:pt idx="7">
                  <c:v>80.084130000000002</c:v>
                </c:pt>
                <c:pt idx="8">
                  <c:v>79.774146000000002</c:v>
                </c:pt>
                <c:pt idx="9">
                  <c:v>78.613014000000007</c:v>
                </c:pt>
                <c:pt idx="10">
                  <c:v>77.207780999999997</c:v>
                </c:pt>
                <c:pt idx="11">
                  <c:v>75.696307000000004</c:v>
                </c:pt>
                <c:pt idx="12">
                  <c:v>74.199774000000005</c:v>
                </c:pt>
                <c:pt idx="13">
                  <c:v>73.457110999999998</c:v>
                </c:pt>
                <c:pt idx="14">
                  <c:v>73.457110999999998</c:v>
                </c:pt>
                <c:pt idx="15">
                  <c:v>73.457110999999998</c:v>
                </c:pt>
                <c:pt idx="16">
                  <c:v>73.457110999999998</c:v>
                </c:pt>
                <c:pt idx="17">
                  <c:v>73.457110999999998</c:v>
                </c:pt>
                <c:pt idx="18">
                  <c:v>74.199774000000005</c:v>
                </c:pt>
                <c:pt idx="19">
                  <c:v>75.696307000000004</c:v>
                </c:pt>
                <c:pt idx="20">
                  <c:v>77.207780999999997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7CA-4FE5-B39D-5E97A0C75D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26061344"/>
        <c:axId val="426063144"/>
      </c:scatterChart>
      <c:valAx>
        <c:axId val="4260613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6063144"/>
        <c:crosses val="autoZero"/>
        <c:crossBetween val="midCat"/>
      </c:valAx>
      <c:valAx>
        <c:axId val="426063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60613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uk-UA" sz="1400" b="0" i="0" u="none" strike="noStrike" baseline="0">
                <a:effectLst/>
              </a:rPr>
              <a:t>Залежність сили струму від часу </a:t>
            </a:r>
            <a:r>
              <a:rPr lang="en-US"/>
              <a:t>I(t)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Sheet1!$S$1:$S$21</c:f>
              <c:numCache>
                <c:formatCode>General</c:formatCode>
                <c:ptCount val="2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Sheet1!$T$1:$T$21</c:f>
              <c:numCache>
                <c:formatCode>General</c:formatCode>
                <c:ptCount val="21"/>
                <c:pt idx="0">
                  <c:v>0.3</c:v>
                </c:pt>
                <c:pt idx="1">
                  <c:v>0.30036600000000002</c:v>
                </c:pt>
                <c:pt idx="2">
                  <c:v>0.301427</c:v>
                </c:pt>
                <c:pt idx="3">
                  <c:v>0.30261199999999999</c:v>
                </c:pt>
                <c:pt idx="4">
                  <c:v>0.30339899999999997</c:v>
                </c:pt>
                <c:pt idx="5">
                  <c:v>0.304147</c:v>
                </c:pt>
                <c:pt idx="6">
                  <c:v>0.30486000000000002</c:v>
                </c:pt>
                <c:pt idx="7">
                  <c:v>0.305537</c:v>
                </c:pt>
                <c:pt idx="8">
                  <c:v>0.30494500000000002</c:v>
                </c:pt>
                <c:pt idx="9">
                  <c:v>0.30271799999999999</c:v>
                </c:pt>
                <c:pt idx="10">
                  <c:v>0.3</c:v>
                </c:pt>
                <c:pt idx="11">
                  <c:v>0.29704900000000001</c:v>
                </c:pt>
                <c:pt idx="12">
                  <c:v>0.29409800000000003</c:v>
                </c:pt>
                <c:pt idx="13">
                  <c:v>0.29262199999999999</c:v>
                </c:pt>
                <c:pt idx="14">
                  <c:v>0.29262199999999999</c:v>
                </c:pt>
                <c:pt idx="15">
                  <c:v>0.29262199999999999</c:v>
                </c:pt>
                <c:pt idx="16">
                  <c:v>0.29262199999999999</c:v>
                </c:pt>
                <c:pt idx="17">
                  <c:v>0.29262199999999999</c:v>
                </c:pt>
                <c:pt idx="18">
                  <c:v>0.29409800000000003</c:v>
                </c:pt>
                <c:pt idx="19">
                  <c:v>0.29704900000000001</c:v>
                </c:pt>
                <c:pt idx="20">
                  <c:v>0.3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3BC-476E-A01A-5B164EEFCC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21535368"/>
        <c:axId val="521525648"/>
      </c:scatterChart>
      <c:valAx>
        <c:axId val="5215353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1525648"/>
        <c:crosses val="autoZero"/>
        <c:crossBetween val="midCat"/>
      </c:valAx>
      <c:valAx>
        <c:axId val="5215256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I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1535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uk-UA" sz="1400" b="0" i="0" u="none" strike="noStrike" baseline="0"/>
              <a:t>Зміна допоміжного коефіцієнта від часу </a:t>
            </a:r>
            <a:r>
              <a:rPr lang="en-GB"/>
              <a:t>k(t)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Sheet1!$S$1:$S$21</c:f>
              <c:numCache>
                <c:formatCode>General</c:formatCode>
                <c:ptCount val="2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Sheet1!$U$1:$U$21</c:f>
              <c:numCache>
                <c:formatCode>General</c:formatCode>
                <c:ptCount val="21"/>
                <c:pt idx="0">
                  <c:v>0</c:v>
                </c:pt>
                <c:pt idx="1">
                  <c:v>2.4399999999999999E-4</c:v>
                </c:pt>
                <c:pt idx="2">
                  <c:v>4.7600000000000002E-4</c:v>
                </c:pt>
                <c:pt idx="3">
                  <c:v>6.96E-4</c:v>
                </c:pt>
                <c:pt idx="4">
                  <c:v>9.0600000000000001E-4</c:v>
                </c:pt>
                <c:pt idx="5">
                  <c:v>1.106E-3</c:v>
                </c:pt>
                <c:pt idx="6">
                  <c:v>1.2960000000000001E-3</c:v>
                </c:pt>
                <c:pt idx="7">
                  <c:v>1.477E-3</c:v>
                </c:pt>
                <c:pt idx="8">
                  <c:v>1.6479999999999999E-3</c:v>
                </c:pt>
                <c:pt idx="9">
                  <c:v>1.812E-3</c:v>
                </c:pt>
                <c:pt idx="10">
                  <c:v>1.967E-3</c:v>
                </c:pt>
                <c:pt idx="11">
                  <c:v>1.967E-3</c:v>
                </c:pt>
                <c:pt idx="12">
                  <c:v>1.967E-3</c:v>
                </c:pt>
                <c:pt idx="13">
                  <c:v>1.967E-3</c:v>
                </c:pt>
                <c:pt idx="14">
                  <c:v>1.967E-3</c:v>
                </c:pt>
                <c:pt idx="15">
                  <c:v>1.967E-3</c:v>
                </c:pt>
                <c:pt idx="16">
                  <c:v>1.967E-3</c:v>
                </c:pt>
                <c:pt idx="17">
                  <c:v>1.967E-3</c:v>
                </c:pt>
                <c:pt idx="18">
                  <c:v>1.967E-3</c:v>
                </c:pt>
                <c:pt idx="19">
                  <c:v>1.967E-3</c:v>
                </c:pt>
                <c:pt idx="20">
                  <c:v>1.967E-3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A90-4FEB-AB83-F20E104709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20756888"/>
        <c:axId val="620760488"/>
      </c:scatterChart>
      <c:valAx>
        <c:axId val="6207568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0760488"/>
        <c:crosses val="autoZero"/>
        <c:crossBetween val="midCat"/>
      </c:valAx>
      <c:valAx>
        <c:axId val="620760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0756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uk-UA" sz="1400" b="0" i="0" u="none" strike="noStrike" baseline="0"/>
              <a:t>Залежність величини повітряного зазору від часу </a:t>
            </a:r>
            <a:r>
              <a:rPr lang="en-GB"/>
              <a:t>l(t)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Sheet1!$S$1:$S$21</c:f>
              <c:numCache>
                <c:formatCode>General</c:formatCode>
                <c:ptCount val="2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Sheet1!$V$1:$V$21</c:f>
              <c:numCache>
                <c:formatCode>General</c:formatCode>
                <c:ptCount val="21"/>
                <c:pt idx="0">
                  <c:v>0.1</c:v>
                </c:pt>
                <c:pt idx="1">
                  <c:v>0.105</c:v>
                </c:pt>
                <c:pt idx="2">
                  <c:v>0.11</c:v>
                </c:pt>
                <c:pt idx="3">
                  <c:v>0.115</c:v>
                </c:pt>
                <c:pt idx="4">
                  <c:v>0.12</c:v>
                </c:pt>
                <c:pt idx="5">
                  <c:v>0.125</c:v>
                </c:pt>
                <c:pt idx="6">
                  <c:v>0.125</c:v>
                </c:pt>
                <c:pt idx="7">
                  <c:v>0.125</c:v>
                </c:pt>
                <c:pt idx="8">
                  <c:v>0.125</c:v>
                </c:pt>
                <c:pt idx="9">
                  <c:v>0.125</c:v>
                </c:pt>
                <c:pt idx="10">
                  <c:v>0.125</c:v>
                </c:pt>
                <c:pt idx="11">
                  <c:v>0.125</c:v>
                </c:pt>
                <c:pt idx="12">
                  <c:v>0.125</c:v>
                </c:pt>
                <c:pt idx="13">
                  <c:v>0.125</c:v>
                </c:pt>
                <c:pt idx="14">
                  <c:v>0.125</c:v>
                </c:pt>
                <c:pt idx="15">
                  <c:v>0.125</c:v>
                </c:pt>
                <c:pt idx="16">
                  <c:v>0.125</c:v>
                </c:pt>
                <c:pt idx="17">
                  <c:v>0.125</c:v>
                </c:pt>
                <c:pt idx="18">
                  <c:v>0.125</c:v>
                </c:pt>
                <c:pt idx="19">
                  <c:v>0.125</c:v>
                </c:pt>
                <c:pt idx="20">
                  <c:v>0.125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3AB-4968-A0EB-AF5D25854C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21543288"/>
        <c:axId val="521523128"/>
      </c:scatterChart>
      <c:valAx>
        <c:axId val="5215432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1523128"/>
        <c:crosses val="autoZero"/>
        <c:crossBetween val="midCat"/>
      </c:valAx>
      <c:valAx>
        <c:axId val="521523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15432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uk-UA" sz="1400" b="0" i="0" u="none" strike="noStrike" baseline="0"/>
              <a:t>Залежність тягового зусилля від часу </a:t>
            </a:r>
            <a:r>
              <a:rPr lang="en-GB"/>
              <a:t>F(t)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Sheet1!$S$1:$S$21</c:f>
              <c:numCache>
                <c:formatCode>General</c:formatCode>
                <c:ptCount val="2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Sheet1!$W$1:$W$21</c:f>
              <c:numCache>
                <c:formatCode>General</c:formatCode>
                <c:ptCount val="21"/>
                <c:pt idx="0">
                  <c:v>763.407015</c:v>
                </c:pt>
                <c:pt idx="1">
                  <c:v>694.12221299999999</c:v>
                </c:pt>
                <c:pt idx="2">
                  <c:v>636.93312100000003</c:v>
                </c:pt>
                <c:pt idx="3">
                  <c:v>587.33983899999998</c:v>
                </c:pt>
                <c:pt idx="4">
                  <c:v>542.22415100000001</c:v>
                </c:pt>
                <c:pt idx="5">
                  <c:v>502.18307399999998</c:v>
                </c:pt>
                <c:pt idx="6">
                  <c:v>504.53759000000002</c:v>
                </c:pt>
                <c:pt idx="7">
                  <c:v>506.78238399999998</c:v>
                </c:pt>
                <c:pt idx="8">
                  <c:v>504.82076699999999</c:v>
                </c:pt>
                <c:pt idx="9">
                  <c:v>497.47297800000001</c:v>
                </c:pt>
                <c:pt idx="10">
                  <c:v>488.580489</c:v>
                </c:pt>
                <c:pt idx="11">
                  <c:v>479.015693</c:v>
                </c:pt>
                <c:pt idx="12">
                  <c:v>469.54544800000002</c:v>
                </c:pt>
                <c:pt idx="13">
                  <c:v>464.84578199999999</c:v>
                </c:pt>
                <c:pt idx="14">
                  <c:v>464.84578199999999</c:v>
                </c:pt>
                <c:pt idx="15">
                  <c:v>464.84578199999999</c:v>
                </c:pt>
                <c:pt idx="16">
                  <c:v>464.84578199999999</c:v>
                </c:pt>
                <c:pt idx="17">
                  <c:v>464.84578199999999</c:v>
                </c:pt>
                <c:pt idx="18">
                  <c:v>469.54544800000002</c:v>
                </c:pt>
                <c:pt idx="19">
                  <c:v>479.015693</c:v>
                </c:pt>
                <c:pt idx="20">
                  <c:v>488.580489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D76-4644-AF9F-A00DBE8445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5939176"/>
        <c:axId val="515933776"/>
      </c:scatterChart>
      <c:valAx>
        <c:axId val="5159391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5933776"/>
        <c:crosses val="autoZero"/>
        <c:crossBetween val="midCat"/>
      </c:valAx>
      <c:valAx>
        <c:axId val="515933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59391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25T20:18:46.71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1,'0'20196,"0"-20160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25T20:17:47.35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1,'0'20196,"0"-20160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25T20:19:23.90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1,'0'20196,"0"-20160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5A151-D91A-37DD-8F50-39F86BE39A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33F135-6805-69D8-500A-6865FCFB2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F633C-2216-02F2-A462-E5865735B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665F5-E0F1-40F8-B799-BF46014D2AD5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98BB2-E1A5-B524-623C-16DF2DFAF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E5424-04C6-D69D-1EC7-D2353FE49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93F2-5BBB-4899-885E-05A91EE507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8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0EEBE-6F37-7273-574C-17944546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9686F-FB84-A456-9284-4EA145DE1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D6805-1BFA-4DB2-BC1E-2D8B42855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665F5-E0F1-40F8-B799-BF46014D2AD5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AB95E-D9E4-BFE9-49DE-D1E8862A8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D2B16-3767-63FF-2105-AB36483DD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93F2-5BBB-4899-885E-05A91EE507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012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5A4C7-CF43-F470-9526-8F0D524EC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30426-9976-589F-0D6A-C434811F1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48ECC-BF90-8E3C-9BC5-8B6CF810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665F5-E0F1-40F8-B799-BF46014D2AD5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18925-64F3-CF61-1505-C02EDFEE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D1AE0-4260-77CD-5C21-A03F79009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93F2-5BBB-4899-885E-05A91EE507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1382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0A86-F216-D364-600A-89C41B2A9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FA557-644E-9F40-CE92-5B902FFC54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6917F1-F2C2-ABC4-FDAA-B2CFB1C98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8FD29-F39E-B9AF-E23F-7C04F3669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665F5-E0F1-40F8-B799-BF46014D2AD5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6E578-B9C8-0AA2-217A-F4268475D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75D61-21F1-9F2C-94C7-B39DDA16E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93F2-5BBB-4899-885E-05A91EE507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219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2DAA-6949-FCF2-96DC-65DD99C84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2EED1-7EA7-6B51-3EBA-CA35868F5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7AEA57-86F0-C277-CAD2-44E22F965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19612D-AB1F-A6FD-97F2-FE9175660A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ABA691-CC6D-FD3A-4DB1-F43001243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4CE45D-E22C-93C8-7987-1C754256F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665F5-E0F1-40F8-B799-BF46014D2AD5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A6CB21-95C5-B214-0D9B-44F58574E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A0F63A-D4BD-6833-F737-F91A7744B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93F2-5BBB-4899-885E-05A91EE507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5517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3BC53-7A24-AFB9-8549-DF5FCF1F5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20F953-C590-81F8-A4FB-729B63A2D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665F5-E0F1-40F8-B799-BF46014D2AD5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0FF01E-6013-C116-AD94-6F9BD64B7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141B4-DFA8-EA1C-AA3B-B651490DD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93F2-5BBB-4899-885E-05A91EE507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7923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F3E73B-BB01-35D0-4FBF-CBCDF5A71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665F5-E0F1-40F8-B799-BF46014D2AD5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A4F515-58B4-BB5F-E27F-1F026EFF0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5BD53-EF6A-32BA-848A-2FC66A345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93F2-5BBB-4899-885E-05A91EE507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202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226C0-E425-342C-6583-DE141C012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0484D-1800-54B6-AA94-44BB88746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DC10A4-1A1E-DC66-2736-E3F842C9C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6A162-725D-C675-A010-8EEAB9AC2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665F5-E0F1-40F8-B799-BF46014D2AD5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5955F3-9D00-2F00-9A32-5F894275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1F512-D461-8A06-D2E8-FFD7C868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93F2-5BBB-4899-885E-05A91EE507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665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82F73-1071-C4E5-D24F-71303F97B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A356DB-99CA-3228-31C0-A3882566A6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C9008A-A39C-B001-3F7F-4E00B751B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A23E7-7EE4-6B76-39FE-C954744A4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665F5-E0F1-40F8-B799-BF46014D2AD5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CF273-B541-29F1-7F46-5B815E5F4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2356E-7E63-228C-A7F0-5F9C54A0A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93F2-5BBB-4899-885E-05A91EE507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4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9191A-2441-7613-25EA-2263320FF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35D9C6-F7CB-1866-85D0-65A378511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CBF98-2928-B64F-A042-E1B8718E7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665F5-E0F1-40F8-B799-BF46014D2AD5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F4B2-4BF3-EF35-4CF7-D731F988E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C5AC1-DA85-2BCC-3C59-B9BA70760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93F2-5BBB-4899-885E-05A91EE507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7384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D8DD07-4A63-FA5B-83C0-CE65301099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77934F-52B7-564D-176E-D952A2D8A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F306E-01A8-28DD-CD53-F25FE6CE0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665F5-E0F1-40F8-B799-BF46014D2AD5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0FCB0-191F-0CF4-C7DC-7FE26F414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B9D41-3B8A-B9C1-C2BE-5AD3B1380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893F2-5BBB-4899-885E-05A91EE507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1274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8CFDEB-8804-A671-7A45-2B6186C16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D3711-06F3-9D1E-95A6-5147FA80E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3E4A0-34FC-2FE7-F824-6A7AE46F0B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A665F5-E0F1-40F8-B799-BF46014D2AD5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F2796-58FA-C583-8246-16724FEDD9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621F7-0F5C-9ECB-2AE0-07E3C15662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893F2-5BBB-4899-885E-05A91EE507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73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customXml" Target="../ink/ink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mix.sumdu.edu.ua/textbooks/120744/2871805/index.html" TargetMode="External"/><Relationship Id="rId2" Type="http://schemas.openxmlformats.org/officeDocument/2006/relationships/hyperlink" Target="https://www.w3schools.com/cpp/cpp_intro.asp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cppreference.com/w/c/header.html" TargetMode="External"/><Relationship Id="rId4" Type="http://schemas.openxmlformats.org/officeDocument/2006/relationships/hyperlink" Target="https://mix.sumdu.edu.ua/textbooks/121885/2857372/index.html#p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ge 24 | Plain White Wallpaper Images - Free Download on Freepik">
            <a:extLst>
              <a:ext uri="{FF2B5EF4-FFF2-40B4-BE49-F238E27FC236}">
                <a16:creationId xmlns:a16="http://schemas.microsoft.com/office/drawing/2014/main" id="{25FB5C75-FBF7-A579-4F3E-F884D8472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6971"/>
            <a:ext cx="12192000" cy="6864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F993B3-775D-5341-E148-CC1287E8E2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8385" y="1197033"/>
            <a:ext cx="6855229" cy="2977948"/>
          </a:xfrm>
        </p:spPr>
        <p:txBody>
          <a:bodyPr>
            <a:normAutofit fontScale="90000"/>
          </a:bodyPr>
          <a:lstStyle/>
          <a:p>
            <a:r>
              <a:rPr lang="uk-UA" b="1" dirty="0"/>
              <a:t>Пояснювальна записка</a:t>
            </a:r>
            <a:br>
              <a:rPr lang="en-GB" dirty="0"/>
            </a:br>
            <a:r>
              <a:rPr lang="uk-UA" b="1" dirty="0"/>
              <a:t>до курсової роботи</a:t>
            </a:r>
            <a:br>
              <a:rPr lang="en-GB" dirty="0"/>
            </a:br>
            <a:r>
              <a:rPr lang="uk-UA" dirty="0"/>
              <a:t>з дисципліни</a:t>
            </a:r>
            <a:br>
              <a:rPr lang="en-GB" dirty="0"/>
            </a:br>
            <a:r>
              <a:rPr lang="uk-UA" dirty="0"/>
              <a:t>«Програмування»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BE2D99-0694-88CB-2033-C0A581613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7396" y="5202238"/>
            <a:ext cx="5314604" cy="16557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uk-UA" dirty="0"/>
              <a:t>Викладач – Авраменко Віктор Васильович</a:t>
            </a:r>
            <a:endParaRPr lang="en-GB" dirty="0"/>
          </a:p>
          <a:p>
            <a:pPr algn="l"/>
            <a:r>
              <a:rPr lang="uk-UA" dirty="0"/>
              <a:t>Студент - Дудченко Андрій Євгенійович</a:t>
            </a:r>
            <a:endParaRPr lang="en-GB" dirty="0"/>
          </a:p>
          <a:p>
            <a:pPr algn="l"/>
            <a:r>
              <a:rPr lang="uk-UA" dirty="0"/>
              <a:t>Група – КН-51/1</a:t>
            </a:r>
            <a:endParaRPr lang="en-GB" dirty="0"/>
          </a:p>
          <a:p>
            <a:pPr algn="l"/>
            <a:r>
              <a:rPr lang="uk-UA" dirty="0"/>
              <a:t>Варіант - 14</a:t>
            </a:r>
            <a:endParaRPr lang="en-GB" dirty="0"/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9748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71F24-EEF6-571F-C7D3-DD9A6C64B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48C96-3589-754E-B812-DBC0A5671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2" descr="Free Vector abstract waves banner design">
            <a:extLst>
              <a:ext uri="{FF2B5EF4-FFF2-40B4-BE49-F238E27FC236}">
                <a16:creationId xmlns:a16="http://schemas.microsoft.com/office/drawing/2014/main" id="{920A774D-2884-02A7-CA73-0CF4BDCEF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76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7C7631-24D7-F791-D324-5D3707B35AE1}"/>
                  </a:ext>
                </a:extLst>
              </p:cNvPr>
              <p:cNvSpPr txBox="1"/>
              <p:nvPr/>
            </p:nvSpPr>
            <p:spPr>
              <a:xfrm>
                <a:off x="233450" y="1126333"/>
                <a:ext cx="5862550" cy="4401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uk-UA" sz="2800" dirty="0"/>
                  <a:t>Описати масив структур із трьох елементів. Кожна структура об’єднує дані для одного варіанта розрахунку. Необхідно для кожного варіанта на відрізку часу від 0 до Т із кроком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80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sz="2800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2800" dirty="0"/>
                  <a:t> </a:t>
                </a:r>
                <a:r>
                  <a:rPr lang="uk-UA" sz="2800" dirty="0"/>
                  <a:t>побудувати графік зміни тягового зусилля, що розвивається електромагнітом постійного струму. Тягове зусилля обчислюють за формулою:</a:t>
                </a:r>
                <a:endParaRPr lang="en-GB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7C7631-24D7-F791-D324-5D3707B35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50" y="1126333"/>
                <a:ext cx="5862550" cy="4401205"/>
              </a:xfrm>
              <a:prstGeom prst="rect">
                <a:avLst/>
              </a:prstGeom>
              <a:blipFill>
                <a:blip r:embed="rId3"/>
                <a:stretch>
                  <a:fillRect l="-2079" t="-1385" r="-2807" b="-30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B141E42-719A-8E48-4394-AAB40A57D14B}"/>
              </a:ext>
            </a:extLst>
          </p:cNvPr>
          <p:cNvSpPr txBox="1"/>
          <p:nvPr/>
        </p:nvSpPr>
        <p:spPr>
          <a:xfrm>
            <a:off x="3035877" y="55335"/>
            <a:ext cx="61202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6000" dirty="0"/>
              <a:t>Постановка задачі</a:t>
            </a:r>
            <a:endParaRPr lang="en-GB" sz="6000" dirty="0"/>
          </a:p>
        </p:txBody>
      </p:sp>
      <p:pic>
        <p:nvPicPr>
          <p:cNvPr id="10" name="Picture 9" descr="A black and white symbol&#10;&#10;AI-generated content may be incorrect.">
            <a:extLst>
              <a:ext uri="{FF2B5EF4-FFF2-40B4-BE49-F238E27FC236}">
                <a16:creationId xmlns:a16="http://schemas.microsoft.com/office/drawing/2014/main" id="{CF6BAC6D-E93F-C1F7-4939-B920F5BE7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450" y="5582873"/>
            <a:ext cx="5930473" cy="745302"/>
          </a:xfrm>
          <a:prstGeom prst="rect">
            <a:avLst/>
          </a:prstGeom>
        </p:spPr>
      </p:pic>
      <p:pic>
        <p:nvPicPr>
          <p:cNvPr id="12" name="Picture 11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DFEF3AF2-F8A6-4443-5D34-590BE984D6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7308" y="1231787"/>
            <a:ext cx="4064209" cy="4394426"/>
          </a:xfrm>
          <a:prstGeom prst="rect">
            <a:avLst/>
          </a:prstGeom>
        </p:spPr>
      </p:pic>
      <p:pic>
        <p:nvPicPr>
          <p:cNvPr id="14" name="Picture 13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C27B9246-E1CD-3C5E-5651-5CC661C08C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7308" y="5619686"/>
            <a:ext cx="2673487" cy="123831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C0716D7-16F3-FF75-9DDA-C93DCB13026E}"/>
              </a:ext>
            </a:extLst>
          </p:cNvPr>
          <p:cNvSpPr txBox="1"/>
          <p:nvPr/>
        </p:nvSpPr>
        <p:spPr>
          <a:xfrm>
            <a:off x="6050720" y="886332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Струм в </a:t>
            </a:r>
            <a:r>
              <a:rPr lang="ru-RU" dirty="0" err="1"/>
              <a:t>обмотці</a:t>
            </a:r>
            <a:r>
              <a:rPr lang="ru-RU" dirty="0"/>
              <a:t> і </a:t>
            </a:r>
            <a:r>
              <a:rPr lang="ru-RU" dirty="0" err="1"/>
              <a:t>повітряний</a:t>
            </a:r>
            <a:r>
              <a:rPr lang="ru-RU" dirty="0"/>
              <a:t> зазор </a:t>
            </a:r>
            <a:r>
              <a:rPr lang="ru-RU" dirty="0" err="1"/>
              <a:t>змінюються</a:t>
            </a:r>
            <a:r>
              <a:rPr lang="ru-RU" dirty="0"/>
              <a:t> з часом: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0942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94E33-AD3C-166E-2C25-91C6A98F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F78F6-ECCC-5242-E603-080536539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2" descr="Free Vector background template wave gradient style">
            <a:extLst>
              <a:ext uri="{FF2B5EF4-FFF2-40B4-BE49-F238E27FC236}">
                <a16:creationId xmlns:a16="http://schemas.microsoft.com/office/drawing/2014/main" id="{12809D2F-0130-CA24-472C-0CC6D31F0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6FA49F-FA24-A625-7562-4BABCB2E78AB}"/>
              </a:ext>
            </a:extLst>
          </p:cNvPr>
          <p:cNvSpPr txBox="1"/>
          <p:nvPr/>
        </p:nvSpPr>
        <p:spPr>
          <a:xfrm>
            <a:off x="4259753" y="128926"/>
            <a:ext cx="367249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6000" dirty="0"/>
              <a:t>Вхідні дані</a:t>
            </a:r>
            <a:endParaRPr lang="en-GB" sz="6000" dirty="0"/>
          </a:p>
        </p:txBody>
      </p:sp>
      <p:pic>
        <p:nvPicPr>
          <p:cNvPr id="7" name="Picture 6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186B861E-13F9-ED7C-05DD-36A2EC0B6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37" y="1939356"/>
            <a:ext cx="10792525" cy="348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272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BC2A2-8E86-7099-6C14-3CCD61A5B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E05B0-A925-C273-7D32-87A697776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2" descr="Free Vector white background with wavy line">
            <a:extLst>
              <a:ext uri="{FF2B5EF4-FFF2-40B4-BE49-F238E27FC236}">
                <a16:creationId xmlns:a16="http://schemas.microsoft.com/office/drawing/2014/main" id="{CC978518-98C1-4902-4CF0-1273F038B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FAECB1-4471-6C28-1C25-4E300635BE82}"/>
              </a:ext>
            </a:extLst>
          </p:cNvPr>
          <p:cNvSpPr txBox="1"/>
          <p:nvPr/>
        </p:nvSpPr>
        <p:spPr>
          <a:xfrm>
            <a:off x="-1" y="1074509"/>
            <a:ext cx="343614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6000" dirty="0"/>
              <a:t>Опис структури даних</a:t>
            </a:r>
            <a:r>
              <a:rPr lang="en-US" sz="6000" dirty="0"/>
              <a:t> </a:t>
            </a:r>
            <a:r>
              <a:rPr lang="uk-UA" sz="6000" dirty="0"/>
              <a:t>та вимоги до них</a:t>
            </a:r>
            <a:endParaRPr lang="en-GB" sz="6000" dirty="0"/>
          </a:p>
        </p:txBody>
      </p:sp>
      <p:pic>
        <p:nvPicPr>
          <p:cNvPr id="12" name="Picture 11" descr="A black board with white text&#10;&#10;AI-generated content may be incorrect.">
            <a:extLst>
              <a:ext uri="{FF2B5EF4-FFF2-40B4-BE49-F238E27FC236}">
                <a16:creationId xmlns:a16="http://schemas.microsoft.com/office/drawing/2014/main" id="{F46F4AE9-2E25-4662-7D28-52223FE91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649" y="-1"/>
            <a:ext cx="8966352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012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58EA2-AD22-30D6-5381-C73FEAADE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26213-A13B-24DF-D4C7-FF4AB03EC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2" descr="Free Vector minimalist white background">
            <a:extLst>
              <a:ext uri="{FF2B5EF4-FFF2-40B4-BE49-F238E27FC236}">
                <a16:creationId xmlns:a16="http://schemas.microsoft.com/office/drawing/2014/main" id="{F0EB418B-C08E-5E3C-DE20-79286F414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9"/>
            <a:ext cx="12192000" cy="6888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A36708-50BD-63E5-C5D5-AED8F2E7B8F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95"/>
          <a:stretch>
            <a:fillRect/>
          </a:stretch>
        </p:blipFill>
        <p:spPr bwMode="auto">
          <a:xfrm>
            <a:off x="-16925" y="365124"/>
            <a:ext cx="5366626" cy="65230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3BA7CE-A058-226C-6A6C-01E27E600F7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95" t="855" r="3494"/>
          <a:stretch>
            <a:fillRect/>
          </a:stretch>
        </p:blipFill>
        <p:spPr bwMode="auto">
          <a:xfrm>
            <a:off x="6268268" y="365124"/>
            <a:ext cx="5906807" cy="652303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7929D6-4C5B-CAFD-6528-8A9C32A08B14}"/>
              </a:ext>
            </a:extLst>
          </p:cNvPr>
          <p:cNvSpPr txBox="1"/>
          <p:nvPr/>
        </p:nvSpPr>
        <p:spPr>
          <a:xfrm>
            <a:off x="179882" y="-154533"/>
            <a:ext cx="114974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Блок-схема: алгоритм роботи програми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(main)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4092207-332E-B6A0-FE32-3A23D14CD298}"/>
                  </a:ext>
                </a:extLst>
              </p14:cNvPr>
              <p14:cNvContentPartPr/>
              <p14:nvPr/>
            </p14:nvContentPartPr>
            <p14:xfrm>
              <a:off x="5932104" y="681037"/>
              <a:ext cx="360" cy="72838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4092207-332E-B6A0-FE32-3A23D14CD29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23464" y="672397"/>
                <a:ext cx="18000" cy="730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9594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E5470D-5804-3603-57EE-C9D71E094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05495"/>
            <a:ext cx="6452235" cy="429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A6E254-4F2C-0892-6DAE-EF3576D312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64695"/>
            <a:ext cx="6096000" cy="567905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0FDA63-B393-CB7D-B85D-5873C0E96866}"/>
              </a:ext>
            </a:extLst>
          </p:cNvPr>
          <p:cNvSpPr txBox="1"/>
          <p:nvPr/>
        </p:nvSpPr>
        <p:spPr>
          <a:xfrm>
            <a:off x="276694" y="5483173"/>
            <a:ext cx="5542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Блок-схема: </a:t>
            </a:r>
            <a:r>
              <a:rPr lang="uk-U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алгоритм </a:t>
            </a:r>
            <a:r>
              <a:rPr lang="uk-U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функції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find</a:t>
            </a:r>
            <a:r>
              <a:rPr lang="uk-U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_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k</a:t>
            </a:r>
            <a:r>
              <a:rPr lang="uk-U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для розрахунку коефіцієнта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k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A06044-B842-23A7-9888-952F16879204}"/>
              </a:ext>
            </a:extLst>
          </p:cNvPr>
          <p:cNvSpPr txBox="1"/>
          <p:nvPr/>
        </p:nvSpPr>
        <p:spPr>
          <a:xfrm>
            <a:off x="6452235" y="6043747"/>
            <a:ext cx="5542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Блок-схема: </a:t>
            </a:r>
            <a:r>
              <a:rPr lang="uk-U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алгоритм </a:t>
            </a:r>
            <a:r>
              <a:rPr lang="uk-U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функції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find</a:t>
            </a:r>
            <a:r>
              <a:rPr lang="uk-U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_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uk-U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для розрахунку сили струму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AC0EBDB-E478-45E5-852F-70EAB2715487}"/>
                  </a:ext>
                </a:extLst>
              </p14:cNvPr>
              <p14:cNvContentPartPr/>
              <p14:nvPr/>
            </p14:nvContentPartPr>
            <p14:xfrm>
              <a:off x="6175182" y="-212940"/>
              <a:ext cx="360" cy="7283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AC0EBDB-E478-45E5-852F-70EAB27154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66542" y="-221580"/>
                <a:ext cx="18000" cy="730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6615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42C2623-6C18-32AC-F8E4-DF52B8DFB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5027"/>
            <a:ext cx="6331527" cy="4262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C1F739-795E-205F-9CF6-0BCD51D78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65125"/>
            <a:ext cx="6096000" cy="52419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ABD05F3-7B29-706D-1E1C-B2418738593D}"/>
                  </a:ext>
                </a:extLst>
              </p14:cNvPr>
              <p14:cNvContentPartPr/>
              <p14:nvPr/>
            </p14:nvContentPartPr>
            <p14:xfrm>
              <a:off x="6175182" y="-212940"/>
              <a:ext cx="360" cy="7283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ABD05F3-7B29-706D-1E1C-B241873859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66542" y="-221580"/>
                <a:ext cx="18000" cy="730152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7C93905-BB4C-526F-4DD1-EDED6E0543D0}"/>
              </a:ext>
            </a:extLst>
          </p:cNvPr>
          <p:cNvSpPr txBox="1"/>
          <p:nvPr/>
        </p:nvSpPr>
        <p:spPr>
          <a:xfrm>
            <a:off x="20668" y="5117147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Блок-схема: алгоритм функції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find</a:t>
            </a:r>
            <a:r>
              <a:rPr lang="uk-U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_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</a:t>
            </a:r>
            <a:r>
              <a:rPr lang="uk-U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для визначення зазору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970E8D-60FE-6F89-6403-8648972A1B33}"/>
              </a:ext>
            </a:extLst>
          </p:cNvPr>
          <p:cNvSpPr txBox="1"/>
          <p:nvPr/>
        </p:nvSpPr>
        <p:spPr>
          <a:xfrm>
            <a:off x="6175182" y="5450621"/>
            <a:ext cx="61084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Блок-схема: алгоритм функції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find</a:t>
            </a:r>
            <a:r>
              <a:rPr lang="uk-U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_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</a:t>
            </a:r>
            <a:r>
              <a:rPr lang="uk-U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для обчислення тягового зусилля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8617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D542-F890-BD80-EA50-0ECA1A8A0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2" descr="Free Photo modern background with white round lines">
            <a:extLst>
              <a:ext uri="{FF2B5EF4-FFF2-40B4-BE49-F238E27FC236}">
                <a16:creationId xmlns:a16="http://schemas.microsoft.com/office/drawing/2014/main" id="{E99B56EC-DCB7-97C9-472C-71D33AE44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E54D63-7C07-0C8F-7A31-D2B8FBA5DAFB}"/>
              </a:ext>
            </a:extLst>
          </p:cNvPr>
          <p:cNvSpPr txBox="1"/>
          <p:nvPr/>
        </p:nvSpPr>
        <p:spPr>
          <a:xfrm>
            <a:off x="1113906" y="128926"/>
            <a:ext cx="103244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6000" dirty="0"/>
              <a:t>Опис файлів та їх призначення</a:t>
            </a:r>
            <a:endParaRPr lang="en-GB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B1147-B7A6-58DD-267A-58A5146F6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b="1" dirty="0"/>
              <a:t>Курсова робота.cpp: </a:t>
            </a:r>
            <a:r>
              <a:rPr lang="uk-UA" dirty="0"/>
              <a:t>вихідний код програми на С++.</a:t>
            </a:r>
            <a:endParaRPr lang="uk-UA" b="1" dirty="0"/>
          </a:p>
          <a:p>
            <a:r>
              <a:rPr lang="uk-UA" b="1" dirty="0"/>
              <a:t>InputData.txt: </a:t>
            </a:r>
            <a:r>
              <a:rPr lang="uk-UA" dirty="0"/>
              <a:t>Текстовий файл із вхідними фізичними параметрами.</a:t>
            </a:r>
            <a:endParaRPr lang="uk-UA" b="1" dirty="0"/>
          </a:p>
          <a:p>
            <a:r>
              <a:rPr lang="uk-UA" b="1" dirty="0"/>
              <a:t>OutputData.t</a:t>
            </a:r>
            <a:r>
              <a:rPr lang="en-US" b="1" dirty="0" err="1"/>
              <a:t>xt</a:t>
            </a:r>
            <a:r>
              <a:rPr lang="en-US" b="1" dirty="0"/>
              <a:t>:</a:t>
            </a:r>
            <a:r>
              <a:rPr lang="uk-UA" b="1" dirty="0"/>
              <a:t> </a:t>
            </a:r>
            <a:r>
              <a:rPr lang="uk-UA" dirty="0"/>
              <a:t>автоматично згенерований файл із результатами розрахунків.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2374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50615-2B0D-37AF-4EB4-0CCB095D6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2" descr="Free Vector modern abstract white minimal background">
            <a:extLst>
              <a:ext uri="{FF2B5EF4-FFF2-40B4-BE49-F238E27FC236}">
                <a16:creationId xmlns:a16="http://schemas.microsoft.com/office/drawing/2014/main" id="{102C44BC-0866-76DF-A7CC-9C5BBAC80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35"/>
            <a:ext cx="12192000" cy="685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3AFC98-DEBC-8290-E15B-07C33A2E38A9}"/>
              </a:ext>
            </a:extLst>
          </p:cNvPr>
          <p:cNvSpPr txBox="1"/>
          <p:nvPr/>
        </p:nvSpPr>
        <p:spPr>
          <a:xfrm>
            <a:off x="590204" y="128926"/>
            <a:ext cx="108481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6000" dirty="0"/>
              <a:t>Список використаних бібліотек</a:t>
            </a:r>
            <a:endParaRPr lang="en-GB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8E830-D0BC-C106-1CE7-1E2EF6E3A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b="1" dirty="0"/>
              <a:t>_CRT_SECURE_NO_WARNINGS: </a:t>
            </a:r>
            <a:r>
              <a:rPr lang="uk-UA" dirty="0"/>
              <a:t>для роботи з функціями введення та виведення у </a:t>
            </a:r>
            <a:r>
              <a:rPr lang="en-US" dirty="0"/>
              <a:t>Visual Studio.</a:t>
            </a:r>
            <a:endParaRPr lang="en-GB" dirty="0"/>
          </a:p>
          <a:p>
            <a:r>
              <a:rPr lang="uk-UA" b="1" dirty="0"/>
              <a:t>&lt;</a:t>
            </a:r>
            <a:r>
              <a:rPr lang="uk-UA" b="1" dirty="0" err="1"/>
              <a:t>stdio.h</a:t>
            </a:r>
            <a:r>
              <a:rPr lang="uk-UA" b="1" dirty="0"/>
              <a:t>&gt;: </a:t>
            </a:r>
            <a:r>
              <a:rPr lang="uk-UA" dirty="0"/>
              <a:t>для файлових операцій та виводу в консоль.</a:t>
            </a:r>
            <a:endParaRPr lang="uk-UA" b="1" dirty="0"/>
          </a:p>
          <a:p>
            <a:r>
              <a:rPr lang="uk-UA" b="1" dirty="0"/>
              <a:t>&lt;</a:t>
            </a:r>
            <a:r>
              <a:rPr lang="uk-UA" b="1" dirty="0" err="1"/>
              <a:t>stdlib.h</a:t>
            </a:r>
            <a:r>
              <a:rPr lang="uk-UA" b="1" dirty="0"/>
              <a:t>&gt;: </a:t>
            </a:r>
            <a:r>
              <a:rPr lang="uk-UA" dirty="0"/>
              <a:t>для динамічного керування пам’яттю.</a:t>
            </a:r>
            <a:endParaRPr lang="uk-UA" b="1" dirty="0"/>
          </a:p>
          <a:p>
            <a:r>
              <a:rPr lang="uk-UA" b="1" dirty="0"/>
              <a:t>&lt;</a:t>
            </a:r>
            <a:r>
              <a:rPr lang="uk-UA" b="1" dirty="0" err="1"/>
              <a:t>math.h</a:t>
            </a:r>
            <a:r>
              <a:rPr lang="uk-UA" b="1" dirty="0"/>
              <a:t>&gt;: </a:t>
            </a:r>
            <a:r>
              <a:rPr lang="uk-UA" dirty="0"/>
              <a:t>для використання складних математичних обчислень.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7004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5CB25-5438-D7B8-2840-553F099F2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2" descr="Free Vector abstract white background">
            <a:extLst>
              <a:ext uri="{FF2B5EF4-FFF2-40B4-BE49-F238E27FC236}">
                <a16:creationId xmlns:a16="http://schemas.microsoft.com/office/drawing/2014/main" id="{E8EEC9BB-4611-D6DA-476C-73935B2E4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935"/>
            <a:ext cx="12192001" cy="6869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FA4579-39B0-FB72-E9F3-601BCE5E37DA}"/>
              </a:ext>
            </a:extLst>
          </p:cNvPr>
          <p:cNvSpPr txBox="1"/>
          <p:nvPr/>
        </p:nvSpPr>
        <p:spPr>
          <a:xfrm>
            <a:off x="232756" y="128926"/>
            <a:ext cx="117209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6000" dirty="0"/>
              <a:t>Інструкція для роботи з програмою</a:t>
            </a:r>
            <a:endParaRPr lang="en-GB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49F62-4CAB-7D4A-BD71-51F96AB4D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Підготовка середовища та вхідних даних</a:t>
            </a:r>
          </a:p>
          <a:p>
            <a:r>
              <a:rPr lang="uk-UA" dirty="0"/>
              <a:t>Розміщення файлів</a:t>
            </a:r>
          </a:p>
          <a:p>
            <a:r>
              <a:rPr lang="uk-UA" dirty="0"/>
              <a:t>Форматування вхідних даних</a:t>
            </a:r>
          </a:p>
          <a:p>
            <a:r>
              <a:rPr lang="uk-UA" dirty="0"/>
              <a:t>Компіляція та запуск програми</a:t>
            </a:r>
          </a:p>
          <a:p>
            <a:r>
              <a:rPr lang="uk-UA" dirty="0"/>
              <a:t>Запуск IDE</a:t>
            </a:r>
          </a:p>
          <a:p>
            <a:r>
              <a:rPr lang="uk-UA" dirty="0"/>
              <a:t>Виконання</a:t>
            </a:r>
          </a:p>
          <a:p>
            <a:r>
              <a:rPr lang="uk-UA" dirty="0"/>
              <a:t>Моніторинг процесу та обробка помилок</a:t>
            </a:r>
          </a:p>
          <a:p>
            <a:r>
              <a:rPr lang="uk-UA" dirty="0"/>
              <a:t>Отримання та аналіз результатів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8929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0A8FB-CB41-A1DB-0735-5D307ABCA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5DBC1-8FA6-223E-9344-D945075C6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2" descr="Free Vector paper style white monochrome background">
            <a:extLst>
              <a:ext uri="{FF2B5EF4-FFF2-40B4-BE49-F238E27FC236}">
                <a16:creationId xmlns:a16="http://schemas.microsoft.com/office/drawing/2014/main" id="{F4197B7E-29E4-5B7F-525F-DB9F68A14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7A002F-F318-1AA7-6067-E6CE41161A27}"/>
              </a:ext>
            </a:extLst>
          </p:cNvPr>
          <p:cNvSpPr txBox="1"/>
          <p:nvPr/>
        </p:nvSpPr>
        <p:spPr>
          <a:xfrm>
            <a:off x="6669906" y="3712339"/>
            <a:ext cx="479644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6000" dirty="0"/>
              <a:t>Результати роботи програми</a:t>
            </a:r>
            <a:endParaRPr lang="en-GB" sz="6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318E3C-7A2A-592B-ADA0-472738D176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3137"/>
          <a:stretch>
            <a:fillRect/>
          </a:stretch>
        </p:blipFill>
        <p:spPr bwMode="auto">
          <a:xfrm>
            <a:off x="-2" y="0"/>
            <a:ext cx="5944257" cy="6858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9B80D8-B098-9109-E145-5C828B4483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6692"/>
          <a:stretch>
            <a:fillRect/>
          </a:stretch>
        </p:blipFill>
        <p:spPr bwMode="auto">
          <a:xfrm>
            <a:off x="6015429" y="-1"/>
            <a:ext cx="6176571" cy="35495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74746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DDCD82C-0092-E73B-EDAC-497FF6DF1A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2629052"/>
              </p:ext>
            </p:extLst>
          </p:nvPr>
        </p:nvGraphicFramePr>
        <p:xfrm>
          <a:off x="-2" y="3033781"/>
          <a:ext cx="6095999" cy="3686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7593932-B13C-3EF9-1095-DABDD768D4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5150495"/>
              </p:ext>
            </p:extLst>
          </p:nvPr>
        </p:nvGraphicFramePr>
        <p:xfrm>
          <a:off x="-1" y="-23725"/>
          <a:ext cx="6096000" cy="31719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E0670DB-108F-B8B5-1477-169DB336EC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4101831"/>
              </p:ext>
            </p:extLst>
          </p:nvPr>
        </p:nvGraphicFramePr>
        <p:xfrm>
          <a:off x="6096000" y="-23725"/>
          <a:ext cx="6096000" cy="3171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FD41F284-767F-6D21-0816-EA3CCD790D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3115651"/>
              </p:ext>
            </p:extLst>
          </p:nvPr>
        </p:nvGraphicFramePr>
        <p:xfrm>
          <a:off x="6096000" y="3148237"/>
          <a:ext cx="6096000" cy="3709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Rectangle 6">
            <a:extLst>
              <a:ext uri="{FF2B5EF4-FFF2-40B4-BE49-F238E27FC236}">
                <a16:creationId xmlns:a16="http://schemas.microsoft.com/office/drawing/2014/main" id="{DB9D6545-0E80-52FA-A15F-B0D193BEC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00113" y="4648200"/>
            <a:ext cx="1219200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7804FDC-C055-6002-1B7E-CE0DF3D94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854" y="2710615"/>
            <a:ext cx="20682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uk-UA" sz="3600" dirty="0"/>
              <a:t>Варіант 1</a:t>
            </a:r>
            <a:endParaRPr lang="en-GB" sz="3600" dirty="0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DD21A959-9A2C-B839-7298-896EB2C2F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1800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3283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16D072FC-51D1-0127-2351-641CDC2C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857" y="2603971"/>
            <a:ext cx="20682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uk-UA" sz="3600" dirty="0"/>
              <a:t>Варіант 2</a:t>
            </a:r>
            <a:endParaRPr lang="en-GB" sz="3600" dirty="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5EFEA0BF-B74E-B5DD-3909-353C0C77B2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7647254"/>
              </p:ext>
            </p:extLst>
          </p:nvPr>
        </p:nvGraphicFramePr>
        <p:xfrm>
          <a:off x="0" y="2927137"/>
          <a:ext cx="6096000" cy="39622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C1FFBFF9-BBB3-4880-DD95-7CD7CF908D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9558165"/>
              </p:ext>
            </p:extLst>
          </p:nvPr>
        </p:nvGraphicFramePr>
        <p:xfrm>
          <a:off x="-62547" y="1"/>
          <a:ext cx="6158547" cy="2927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5DA8E4A2-D881-22DB-CE0B-9AA80FA5EB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0355072"/>
              </p:ext>
            </p:extLst>
          </p:nvPr>
        </p:nvGraphicFramePr>
        <p:xfrm>
          <a:off x="6096000" y="0"/>
          <a:ext cx="6096000" cy="2927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1B564969-0149-B895-7ABC-76A9B616CB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9252883"/>
              </p:ext>
            </p:extLst>
          </p:nvPr>
        </p:nvGraphicFramePr>
        <p:xfrm>
          <a:off x="6096000" y="2927138"/>
          <a:ext cx="6096000" cy="39622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Rectangle 11">
            <a:extLst>
              <a:ext uri="{FF2B5EF4-FFF2-40B4-BE49-F238E27FC236}">
                <a16:creationId xmlns:a16="http://schemas.microsoft.com/office/drawing/2014/main" id="{99C0D469-F3C7-7A9F-84A7-0AD64E698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345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2A6402B2-B2E9-E321-3058-9B03D6943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5887" y="2836933"/>
            <a:ext cx="20682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uk-UA" sz="3600" dirty="0"/>
              <a:t>Варіант 3</a:t>
            </a:r>
            <a:endParaRPr lang="en-GB" sz="36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1C12F70-2A08-891A-9FC2-0F209F9A42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303788"/>
              </p:ext>
            </p:extLst>
          </p:nvPr>
        </p:nvGraphicFramePr>
        <p:xfrm>
          <a:off x="0" y="3250405"/>
          <a:ext cx="6096000" cy="3607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54A95D9-3886-23D6-07D1-F22C7829E0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417819"/>
              </p:ext>
            </p:extLst>
          </p:nvPr>
        </p:nvGraphicFramePr>
        <p:xfrm>
          <a:off x="0" y="1"/>
          <a:ext cx="6096000" cy="32504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8FD9079-775C-2A40-0CBA-33ED82DA6A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6914174"/>
              </p:ext>
            </p:extLst>
          </p:nvPr>
        </p:nvGraphicFramePr>
        <p:xfrm>
          <a:off x="6096000" y="0"/>
          <a:ext cx="6071242" cy="32504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C020A7E-F673-FDC7-6A22-7131FBA952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685278"/>
              </p:ext>
            </p:extLst>
          </p:nvPr>
        </p:nvGraphicFramePr>
        <p:xfrm>
          <a:off x="6096000" y="3250405"/>
          <a:ext cx="6096000" cy="3607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Rectangle 5">
            <a:extLst>
              <a:ext uri="{FF2B5EF4-FFF2-40B4-BE49-F238E27FC236}">
                <a16:creationId xmlns:a16="http://schemas.microsoft.com/office/drawing/2014/main" id="{7A1F424A-EDD4-DD23-57CA-9A8960D69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8689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058E7-B1E7-2083-BC5E-5AAEEBADE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9650" y="-126365"/>
            <a:ext cx="2442210" cy="732155"/>
          </a:xfrm>
        </p:spPr>
        <p:txBody>
          <a:bodyPr/>
          <a:lstStyle/>
          <a:p>
            <a:r>
              <a:rPr lang="uk-UA" dirty="0"/>
              <a:t>Висновки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90435-6B55-511E-553F-16DE42205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411480"/>
            <a:ext cx="11807190" cy="64465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Під час виконання курсової роботи з було розроблено програму для моделювання тягового зусилля електромагніту постійного струму. Програма реалізована на мові програмування С++ у середовищі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Visual Studio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результаті проведеної роботи було досягнуто наступних результатів:</a:t>
            </a:r>
            <a:endParaRPr 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Створено алгоритм для розрахунку динамічних параметрів системи (струму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коефіцієнта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повітряного зазору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тягової сили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на основі даних завдання курсової роботи.</a:t>
            </a:r>
            <a:endParaRPr 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Застосовано механізм динамічного виділення пам’яті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malloc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створення масиву структур. Після завершення обчислення реалізовано звільнення ресурсів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що запобігає витоку пам’яті.</a:t>
            </a:r>
            <a:endParaRPr 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Реалізовано автоматичне зчитування 9-ти фізичних параметрів із текстового файлу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InputData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txt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запис результату програми у файл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OutputData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txt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Описано помилки які програма може мати, для швидкого налагодження та їх вирішення.</a:t>
            </a:r>
            <a:endParaRPr 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основі отриманих даних було побудовано графіки часових </a:t>
            </a:r>
            <a:r>
              <a:rPr lang="uk-UA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залежностей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Exel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які підтверджують коректність функціонування математичної моделі та дозволяють візуально оцінити динаміку роботи електромагніту.</a:t>
            </a:r>
            <a:endParaRPr 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Розроблено детальні блок-схеми для головної функції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 всіх функцій розрахунків (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Це дозволило чітко представити логіку послідовності роботи програми.</a:t>
            </a:r>
            <a:endParaRPr 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Завдяки використанню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впровадженню супер точності (1е-9 та 1е-15) досягнуто високої точності розрахунків.</a:t>
            </a:r>
            <a:endParaRPr 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Виконання даної курсової роботи стало для мене важливим етапом переходу від школяра до студента. Це був перший досвід, де знання з різних дисциплін нарешті склалися в одне ціле. Я зміг на практиці поєднати проєктування алгоритмів у вигляді блок-схем зі «Вступу до спеціальності», професійне оформлення змісту з «організації та обробки електронної інформації» та безпосередньо розробку на мові С++. </a:t>
            </a:r>
            <a:endParaRPr 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Найбільше задоволення я отримав від моменту, коли було зроблено перевірку вихідних даних з моєї програми в графіках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це стало доказом того, що код написаний правильно. Але було непросто будувати детальні блок-схеми. Проте саме цей процес навчив мене бачити логіку програми.</a:t>
            </a:r>
            <a:endParaRPr 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uk-UA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Окремим викликом для мене став розподіл часу на таку масштабну роботу. Оскільки проєкт складався з багатьох етапів, я навчився розбивати велику мету на малі щоденні кроки. Такий підхід допоміг уникнути перевантаження та дозволив приділити належну увагу кожному модулю програми.</a:t>
            </a:r>
            <a:endParaRPr 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82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F8E48-245B-8525-1ABA-F9F97DD56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2766218"/>
            <a:ext cx="7848600" cy="1325563"/>
          </a:xfrm>
        </p:spPr>
        <p:txBody>
          <a:bodyPr>
            <a:noAutofit/>
          </a:bodyPr>
          <a:lstStyle/>
          <a:p>
            <a:r>
              <a:rPr lang="uk-UA" sz="9600" dirty="0"/>
              <a:t>Дякую за увагу</a:t>
            </a:r>
            <a:endParaRPr lang="en-GB" sz="9600" dirty="0"/>
          </a:p>
        </p:txBody>
      </p:sp>
    </p:spTree>
    <p:extLst>
      <p:ext uri="{BB962C8B-B14F-4D97-AF65-F5344CB8AC3E}">
        <p14:creationId xmlns:p14="http://schemas.microsoft.com/office/powerpoint/2010/main" val="3864390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702E5-2C63-2521-3610-155E5164A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Список використаної літератури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6E86B-8A19-0E0B-729D-DCFEB060D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uk-UA" b="1" dirty="0"/>
              <a:t>C++ </a:t>
            </a:r>
            <a:r>
              <a:rPr lang="uk-UA" b="1" dirty="0" err="1"/>
              <a:t>Introduction</a:t>
            </a:r>
            <a:r>
              <a:rPr lang="uk-UA" b="1" dirty="0"/>
              <a:t> [Електронний ресурс] // W3Schools. — URL: </a:t>
            </a:r>
            <a:r>
              <a:rPr lang="uk-UA" b="1" u="sng" dirty="0">
                <a:hlinkClick r:id="rId2"/>
              </a:rPr>
              <a:t>https://www.w3schools.com/cpp/cpp_intro.asp</a:t>
            </a:r>
            <a:endParaRPr lang="en-GB" dirty="0"/>
          </a:p>
          <a:p>
            <a:pPr lvl="0"/>
            <a:r>
              <a:rPr lang="uk-UA" b="1" dirty="0"/>
              <a:t>Лекція №5. Блок-схеми, їх види та застосування. Інструменти візуалізації алгоритмів [Електронний ресурс] // Платформа MIX </a:t>
            </a:r>
            <a:r>
              <a:rPr lang="uk-UA" b="1" dirty="0" err="1"/>
              <a:t>СумДУ</a:t>
            </a:r>
            <a:r>
              <a:rPr lang="uk-UA" b="1" dirty="0"/>
              <a:t>. — URL: </a:t>
            </a:r>
            <a:r>
              <a:rPr lang="uk-UA" b="1" u="sng" dirty="0">
                <a:hlinkClick r:id="rId3"/>
              </a:rPr>
              <a:t>https://mix.sumdu.edu.ua/textbooks/120744/2871805/index.html</a:t>
            </a:r>
            <a:endParaRPr lang="en-GB" dirty="0"/>
          </a:p>
          <a:p>
            <a:pPr lvl="0"/>
            <a:r>
              <a:rPr lang="uk-UA" b="1" dirty="0"/>
              <a:t>Тема 1. Конструкції мови С++. Лекція №1 [Електронний ресурс] // Платформа MIX </a:t>
            </a:r>
            <a:r>
              <a:rPr lang="uk-UA" b="1" dirty="0" err="1"/>
              <a:t>СумДУ</a:t>
            </a:r>
            <a:r>
              <a:rPr lang="uk-UA" b="1" dirty="0"/>
              <a:t>. — URL: </a:t>
            </a:r>
            <a:r>
              <a:rPr lang="uk-UA" b="1" u="sng" dirty="0">
                <a:hlinkClick r:id="rId4"/>
              </a:rPr>
              <a:t>https://mix.sumdu.edu.ua/textbooks/121885/2857372/index.html#p7</a:t>
            </a:r>
            <a:endParaRPr lang="en-GB" dirty="0"/>
          </a:p>
          <a:p>
            <a:pPr lvl="0"/>
            <a:r>
              <a:rPr lang="uk-UA" b="1" dirty="0"/>
              <a:t>C Standard </a:t>
            </a:r>
            <a:r>
              <a:rPr lang="uk-UA" b="1" dirty="0" err="1"/>
              <a:t>Library</a:t>
            </a:r>
            <a:r>
              <a:rPr lang="uk-UA" b="1" dirty="0"/>
              <a:t> </a:t>
            </a:r>
            <a:r>
              <a:rPr lang="uk-UA" b="1" dirty="0" err="1"/>
              <a:t>headers</a:t>
            </a:r>
            <a:r>
              <a:rPr lang="uk-UA" b="1" dirty="0"/>
              <a:t> [Електронний ресурс] // cppreference.com. — URL: </a:t>
            </a:r>
            <a:r>
              <a:rPr lang="uk-UA" b="1" u="sng" dirty="0">
                <a:hlinkClick r:id="rId5"/>
              </a:rPr>
              <a:t>https://en.cppreference.com/w/c/header.html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6018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1659</TotalTime>
  <Words>942</Words>
  <Application>Microsoft Office PowerPoint</Application>
  <PresentationFormat>Widescreen</PresentationFormat>
  <Paragraphs>92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Times New Roman</vt:lpstr>
      <vt:lpstr>Office Theme</vt:lpstr>
      <vt:lpstr>Пояснювальна записка до курсової роботи з дисципліни «Програмування»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Висновки</vt:lpstr>
      <vt:lpstr>Дякую за увагу</vt:lpstr>
      <vt:lpstr>Список використаної літератури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Andrii Dudchenko</dc:creator>
  <cp:lastModifiedBy>Andrii Dudchenko</cp:lastModifiedBy>
  <cp:revision>15</cp:revision>
  <dcterms:created xsi:type="dcterms:W3CDTF">2025-12-23T15:48:22Z</dcterms:created>
  <dcterms:modified xsi:type="dcterms:W3CDTF">2025-12-30T20:37:32Z</dcterms:modified>
</cp:coreProperties>
</file>